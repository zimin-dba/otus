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302" r:id="rId11"/>
    <p:sldId id="304" r:id="rId12"/>
    <p:sldId id="306" r:id="rId13"/>
    <p:sldId id="309" r:id="rId14"/>
    <p:sldId id="310" r:id="rId15"/>
    <p:sldId id="311" r:id="rId16"/>
    <p:sldId id="312" r:id="rId17"/>
    <p:sldId id="300" r:id="rId18"/>
    <p:sldId id="303" r:id="rId19"/>
    <p:sldId id="307" r:id="rId20"/>
    <p:sldId id="308" r:id="rId21"/>
    <p:sldId id="299" r:id="rId22"/>
    <p:sldId id="263" r:id="rId23"/>
    <p:sldId id="264" r:id="rId24"/>
    <p:sldId id="265" r:id="rId25"/>
    <p:sldId id="266" r:id="rId2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edium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B8110C-A81A-45A0-B9F9-71EB1C899C39}">
  <a:tblStyle styleId="{55B8110C-A81A-45A0-B9F9-71EB1C899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547" y="7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753F3886-2DE1-5F89-E412-832F23D8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B86B4FD5-66C6-4F20-A759-C5B50D798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4556DB3C-76AC-A0C2-7CB8-CFD3B70A9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392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F105DE38-9D13-18DB-859B-7194D545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E8CBA604-5874-5FFC-B628-3ECD034C8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6457467F-7FA0-7544-AEE7-6D3C015B8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875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E7697B2-97E9-F7E9-BA11-31660290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4E9BF17C-F27E-913E-21BA-474F1D497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18B352CA-1AEF-D520-0E27-DD1734594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678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9AFFA56-A287-A0A7-23D8-34474B7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A222E97B-396C-A801-CC36-B4BD10966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D45192A-C1E0-4CD5-1FCA-9A463BDFA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090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1FACAFAF-9129-A9D1-6E6E-FA365D1C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5C8BDA2E-BEF4-9D58-D27A-6D91C096F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C6C2122E-032D-6B84-E657-3E7822983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242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2807932-4C07-735F-C251-BFF58CB0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D35AE6B3-4936-A227-19A6-01565EDD4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6BE176CC-D386-4F25-91BB-6E3424F2F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653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B8C8A9E-64AF-8A64-DBB8-A3FBAB5A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ABBC3EAC-5A34-FB33-F35D-73E43D810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9AA1F7CF-CADF-B8B9-CD0F-0F95428DB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726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C0FC21D3-5E5B-3C14-2396-E80F9B56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>
            <a:extLst>
              <a:ext uri="{FF2B5EF4-FFF2-40B4-BE49-F238E27FC236}">
                <a16:creationId xmlns:a16="http://schemas.microsoft.com/office/drawing/2014/main" id="{0DA84216-B6B7-AEBA-6F77-786EDEA8B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519" name="Google Shape;519;g33ce85d903d_0_654:notes">
            <a:extLst>
              <a:ext uri="{FF2B5EF4-FFF2-40B4-BE49-F238E27FC236}">
                <a16:creationId xmlns:a16="http://schemas.microsoft.com/office/drawing/2014/main" id="{608701CD-A2E3-4CB8-B65B-F1429F7EB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538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B89391F-67E0-37D7-67BD-19A3BA22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E87AA687-C011-8742-C65D-F4A40924F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2ADA1FDA-AAE6-5766-462D-6500D01AE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567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197C15BD-07FC-D184-31B0-B866AB78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8C577DD6-255D-59AE-A0B7-940F04069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0F335CA2-66EC-F203-8800-831B73179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52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4D71693-A424-5961-FD0F-1ACBD9B0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07A9358F-E3C7-60D0-19D4-2610DBBAD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5DEF77BA-2180-6AD3-5B6A-F049F9701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337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C3CA723-45D5-67E3-EF9E-0B7A2E5C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F7E96013-2750-5D9C-BB7D-C8D285823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F5434AEB-59E6-06B3-EAB9-693D446AC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978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09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Создание кластера </a:t>
            </a:r>
            <a:r>
              <a:rPr lang="en-US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Patroni</a:t>
            </a: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на</a:t>
            </a:r>
            <a:r>
              <a:rPr lang="en-US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локальных виртуальных машинах с ОС </a:t>
            </a:r>
            <a:r>
              <a:rPr lang="en-US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Astra</a:t>
            </a: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Linux</a:t>
            </a: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и стендбай-кластера</a:t>
            </a:r>
            <a:r>
              <a:rPr lang="en-US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Patroni </a:t>
            </a:r>
            <a:r>
              <a:rPr lang="ru-RU" sz="2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облаке с собственным HAProxy </a:t>
            </a:r>
            <a:endParaRPr sz="22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746387" y="412737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667472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 Advanced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br>
              <a:rPr lang="ru" sz="3000" dirty="0"/>
            </a:br>
            <a:endParaRPr sz="3000" dirty="0"/>
          </a:p>
          <a:p>
            <a:pPr>
              <a:buSzPts val="1100"/>
            </a:pPr>
            <a:r>
              <a:rPr lang="ru" sz="2500" dirty="0"/>
              <a:t>Тема: </a:t>
            </a:r>
            <a:r>
              <a:rPr lang="ru-RU" sz="2500" dirty="0"/>
              <a:t>Создание кластера Patroni на локальных виртуальных машинах с ОС Astra Linux и стендбай-кластера Patroni в облаке с собственным HAProxy</a:t>
            </a:r>
            <a:r>
              <a:rPr lang="ru-RU" sz="2500" dirty="0">
                <a:solidFill>
                  <a:schemeClr val="lt1"/>
                </a:solidFill>
              </a:rPr>
              <a:t>на </a:t>
            </a:r>
            <a:r>
              <a:rPr lang="ru-RU" dirty="0">
                <a:solidFill>
                  <a:schemeClr val="lt1"/>
                </a:solidFill>
              </a:rPr>
              <a:t>ОС Astra локального кластера Patroni на ETCD с pgbouncer, HAProxy и keepalived, и облачного стендбай-кластера с собственным HAProxy</a:t>
            </a:r>
            <a:br>
              <a:rPr lang="ru-RU" dirty="0">
                <a:solidFill>
                  <a:schemeClr val="lt1"/>
                </a:solidFill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582838" y="2878840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Сергей Зимин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582838" y="3404818"/>
            <a:ext cx="4315257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8 лет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Oracle DBA 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в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Уральском Банке Реконструкции и Развития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 (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в недавнем прошлом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)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218246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801465936"/>
              </p:ext>
            </p:extLst>
          </p:nvPr>
        </p:nvGraphicFramePr>
        <p:xfrm>
          <a:off x="704850" y="1796773"/>
          <a:ext cx="7734300" cy="5320642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52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1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8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7 локальных ВМ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Astra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 проект: 3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ETCD, 3 Patroni, 2 HAProxy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ETCD +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HAProxy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keepalived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локальных ресурсах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инфраструктуру Patroni-кластера в ЯО средствами Terraform</a:t>
                      </a:r>
                      <a:endParaRPr lang="ru" sz="14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Автоматизировать создание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ETCD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Patroni кластеров с помощью Ansible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связность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Patroni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on-prem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Яндекс-облаке через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WG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Установить и настроить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HAProxy + keepalived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облаке</a:t>
                      </a:r>
                      <a:endParaRPr lang="en-US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8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48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999667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развернуть на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локальных ВМ</a:t>
            </a: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ОС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Astra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кластер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Patroni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стендбай-кластер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Patroni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в облаке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576323412"/>
              </p:ext>
            </p:extLst>
          </p:nvPr>
        </p:nvGraphicFramePr>
        <p:xfrm>
          <a:off x="952500" y="1426624"/>
          <a:ext cx="7239000" cy="2780642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Astra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«Воронеж» - были вопросы с репозиториями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Связка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 + ETCD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работает отлично, но есть нюансы с порядком включения\выключения нод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Terraform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ansible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пушка!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Яндекс Облако – несколько запутанный интерфейс, но отличная документация и раздел поддержки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779BE7-96EC-ED55-A504-F0CD774C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875041"/>
            <a:ext cx="7006977" cy="4008019"/>
          </a:xfrm>
          <a:prstGeom prst="rect">
            <a:avLst/>
          </a:prstGeom>
        </p:spPr>
      </p:pic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	             </a:t>
            </a:r>
            <a:r>
              <a:rPr lang="ru" sz="2800" dirty="0"/>
              <a:t>Схема проекта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4C30C9E-54EF-2174-DEC1-22782BF6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2D300959-6BB3-ACFA-D068-45CE88FAC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	          </a:t>
            </a:r>
            <a:r>
              <a:rPr lang="ru-RU" sz="2800" dirty="0"/>
              <a:t>ОС </a:t>
            </a:r>
            <a:r>
              <a:rPr lang="en-US" sz="2800" dirty="0"/>
              <a:t>Astra Linux </a:t>
            </a:r>
            <a:r>
              <a:rPr lang="ru-RU" sz="2800" dirty="0"/>
              <a:t>«Воронеж»</a:t>
            </a:r>
            <a:endParaRPr sz="2800" dirty="0"/>
          </a:p>
        </p:txBody>
      </p:sp>
      <p:sp>
        <p:nvSpPr>
          <p:cNvPr id="7" name="Google Shape;354;p51">
            <a:extLst>
              <a:ext uri="{FF2B5EF4-FFF2-40B4-BE49-F238E27FC236}">
                <a16:creationId xmlns:a16="http://schemas.microsoft.com/office/drawing/2014/main" id="{8022ED26-8CD6-0972-5447-5EE29BB5CDDE}"/>
              </a:ext>
            </a:extLst>
          </p:cNvPr>
          <p:cNvSpPr txBox="1">
            <a:spLocks/>
          </p:cNvSpPr>
          <p:nvPr/>
        </p:nvSpPr>
        <p:spPr>
          <a:xfrm>
            <a:off x="870362" y="1759058"/>
            <a:ext cx="7483224" cy="294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</a:pPr>
            <a:endParaRPr lang="en-US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r>
              <a:rPr lang="ru-RU" sz="1800" b="0" dirty="0">
                <a:latin typeface="Aptos" panose="020B0004020202020204" pitchFamily="34" charset="0"/>
              </a:rPr>
              <a:t>В Astra Linux DVD-репозиторий в частности и штатные Astra репозитории по умолчанию имеет приоритет над всеми другими репозиториями в системе. Поэтому при установке</a:t>
            </a:r>
            <a:r>
              <a:rPr lang="en-US" sz="1800" b="0" dirty="0">
                <a:latin typeface="Aptos" panose="020B0004020202020204" pitchFamily="34" charset="0"/>
              </a:rPr>
              <a:t>, </a:t>
            </a:r>
            <a:r>
              <a:rPr lang="ru-RU" sz="1800" b="0" dirty="0">
                <a:latin typeface="Aptos" panose="020B0004020202020204" pitchFamily="34" charset="0"/>
              </a:rPr>
              <a:t>например, репозитория </a:t>
            </a:r>
            <a:r>
              <a:rPr lang="en-US" sz="1800" b="0" dirty="0">
                <a:latin typeface="Aptos" panose="020B0004020202020204" pitchFamily="34" charset="0"/>
              </a:rPr>
              <a:t>PGDG </a:t>
            </a:r>
            <a:r>
              <a:rPr lang="ru-RU" sz="1800" b="0" dirty="0">
                <a:latin typeface="Aptos" panose="020B0004020202020204" pitchFamily="34" charset="0"/>
              </a:rPr>
              <a:t>нужно применять </a:t>
            </a:r>
            <a:r>
              <a:rPr lang="en-US" sz="1800" b="0" dirty="0">
                <a:latin typeface="Aptos" panose="020B0004020202020204" pitchFamily="34" charset="0"/>
              </a:rPr>
              <a:t>pinning</a:t>
            </a: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r>
              <a:rPr lang="ru-RU" sz="1800" b="0" dirty="0">
                <a:latin typeface="Aptos" panose="020B0004020202020204" pitchFamily="34" charset="0"/>
              </a:rPr>
              <a:t>При установке pgbouncer должен создаваться пользователь pgbouncer, но в Astra Linux считается нормальной практикой создать системного пользователя вручную, если пакетный менеджер этого не сделал. У меня как раз такой случай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20BCF4-0C8A-A26E-9803-94EBB25D6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09" y="1193369"/>
            <a:ext cx="7326581" cy="87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8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89DF58B-95A3-1BAB-96C2-036F8E18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75FFCAD-7B47-C67F-9529-007A113A5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	             </a:t>
            </a:r>
            <a:r>
              <a:rPr lang="en-US" sz="2800" dirty="0"/>
              <a:t>On-prem </a:t>
            </a:r>
            <a:r>
              <a:rPr lang="ru-RU" sz="2800" dirty="0"/>
              <a:t>кластер </a:t>
            </a:r>
            <a:r>
              <a:rPr lang="en-US" sz="2800" dirty="0"/>
              <a:t>Patroni</a:t>
            </a:r>
            <a:endParaRPr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BD91DC-D024-E3B2-2470-7B736C141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270860"/>
            <a:ext cx="8075912" cy="1532109"/>
          </a:xfrm>
          <a:prstGeom prst="rect">
            <a:avLst/>
          </a:prstGeom>
        </p:spPr>
      </p:pic>
      <p:sp>
        <p:nvSpPr>
          <p:cNvPr id="7" name="Google Shape;354;p51">
            <a:extLst>
              <a:ext uri="{FF2B5EF4-FFF2-40B4-BE49-F238E27FC236}">
                <a16:creationId xmlns:a16="http://schemas.microsoft.com/office/drawing/2014/main" id="{8CD7F470-ED22-F806-76B3-A9BB1594EB33}"/>
              </a:ext>
            </a:extLst>
          </p:cNvPr>
          <p:cNvSpPr txBox="1">
            <a:spLocks/>
          </p:cNvSpPr>
          <p:nvPr/>
        </p:nvSpPr>
        <p:spPr>
          <a:xfrm>
            <a:off x="870362" y="2944726"/>
            <a:ext cx="7706100" cy="15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n-US" sz="1800" b="0" dirty="0">
                <a:latin typeface="Aptos" panose="020B0004020202020204" pitchFamily="34" charset="0"/>
              </a:rPr>
              <a:t>aPG1</a:t>
            </a:r>
            <a:r>
              <a:rPr lang="ru-RU" sz="1800" b="0" dirty="0">
                <a:latin typeface="Aptos" panose="020B0004020202020204" pitchFamily="34" charset="0"/>
              </a:rPr>
              <a:t> </a:t>
            </a:r>
            <a:r>
              <a:rPr lang="en-US" sz="1800" b="0" dirty="0">
                <a:latin typeface="Aptos" panose="020B0004020202020204" pitchFamily="34" charset="0"/>
              </a:rPr>
              <a:t>– </a:t>
            </a:r>
            <a:r>
              <a:rPr lang="ru-RU" sz="1800" b="0" dirty="0">
                <a:latin typeface="Aptos" panose="020B0004020202020204" pitchFamily="34" charset="0"/>
              </a:rPr>
              <a:t>нода-лидер</a:t>
            </a:r>
          </a:p>
          <a:p>
            <a:pPr>
              <a:buSzPts val="1100"/>
              <a:buFont typeface="Arial"/>
              <a:buNone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r>
              <a:rPr lang="en-US" sz="1800" b="0" dirty="0">
                <a:latin typeface="Aptos" panose="020B0004020202020204" pitchFamily="34" charset="0"/>
              </a:rPr>
              <a:t>aPG2 – </a:t>
            </a:r>
            <a:r>
              <a:rPr lang="ru-RU" sz="1800" b="0" dirty="0">
                <a:latin typeface="Aptos" panose="020B0004020202020204" pitchFamily="34" charset="0"/>
              </a:rPr>
              <a:t>синхронная реплика</a:t>
            </a:r>
          </a:p>
          <a:p>
            <a:pPr>
              <a:buSzPts val="1100"/>
              <a:buFont typeface="Arial"/>
              <a:buNone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  <a:buFont typeface="Arial"/>
              <a:buNone/>
            </a:pPr>
            <a:r>
              <a:rPr lang="en-US" sz="1800" b="0" dirty="0">
                <a:latin typeface="Aptos" panose="020B0004020202020204" pitchFamily="34" charset="0"/>
              </a:rPr>
              <a:t>aPG3 – </a:t>
            </a:r>
            <a:r>
              <a:rPr lang="ru-RU" sz="1800" b="0" dirty="0">
                <a:latin typeface="Aptos" panose="020B0004020202020204" pitchFamily="34" charset="0"/>
              </a:rPr>
              <a:t>асинхронная реплика</a:t>
            </a:r>
          </a:p>
        </p:txBody>
      </p:sp>
    </p:spTree>
    <p:extLst>
      <p:ext uri="{BB962C8B-B14F-4D97-AF65-F5344CB8AC3E}">
        <p14:creationId xmlns:p14="http://schemas.microsoft.com/office/powerpoint/2010/main" val="361672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A2639E1-C56E-837F-934D-949C0A21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BD89F13C-15AB-B9F7-2EA8-AEBD27A49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Switchover </a:t>
            </a:r>
            <a:r>
              <a:rPr lang="ru-RU" sz="3000" dirty="0"/>
              <a:t>на</a:t>
            </a:r>
            <a:r>
              <a:rPr lang="en-US" sz="2800" dirty="0"/>
              <a:t> </a:t>
            </a:r>
            <a:r>
              <a:rPr lang="ru-RU" sz="2800" dirty="0"/>
              <a:t>локальном</a:t>
            </a:r>
            <a:r>
              <a:rPr lang="en-US" sz="2800" dirty="0"/>
              <a:t> </a:t>
            </a:r>
            <a:r>
              <a:rPr lang="ru-RU" sz="2800" dirty="0"/>
              <a:t>кластере </a:t>
            </a:r>
            <a:r>
              <a:rPr lang="en-US" sz="2800" dirty="0"/>
              <a:t>Patroni</a:t>
            </a:r>
            <a:endParaRPr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96EE94-E294-EE6F-8F60-BC42C0DD0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66498"/>
            <a:ext cx="7997125" cy="360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2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6BBCB58-4C3B-5950-82D9-73DCB233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F457BB90-56DC-6CAB-38DB-611DE7F7E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	   </a:t>
            </a:r>
            <a:r>
              <a:rPr lang="en-US" sz="2800" dirty="0"/>
              <a:t>Terraform – </a:t>
            </a:r>
            <a:r>
              <a:rPr lang="ru-RU" sz="2800" dirty="0"/>
              <a:t>инфраструктура </a:t>
            </a:r>
            <a:r>
              <a:rPr lang="en-US" sz="2800" dirty="0" err="1"/>
              <a:t>IaC</a:t>
            </a:r>
            <a:endParaRPr sz="2800" dirty="0"/>
          </a:p>
        </p:txBody>
      </p:sp>
      <p:sp>
        <p:nvSpPr>
          <p:cNvPr id="5" name="Google Shape;354;p51">
            <a:extLst>
              <a:ext uri="{FF2B5EF4-FFF2-40B4-BE49-F238E27FC236}">
                <a16:creationId xmlns:a16="http://schemas.microsoft.com/office/drawing/2014/main" id="{5DB42C66-0848-7FE4-0E0E-90F576291B3B}"/>
              </a:ext>
            </a:extLst>
          </p:cNvPr>
          <p:cNvSpPr txBox="1">
            <a:spLocks/>
          </p:cNvSpPr>
          <p:nvPr/>
        </p:nvSpPr>
        <p:spPr>
          <a:xfrm>
            <a:off x="1237079" y="1074295"/>
            <a:ext cx="7706100" cy="66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  <a:buFont typeface="Arial"/>
              <a:buNone/>
            </a:pPr>
            <a:r>
              <a:rPr lang="ru-RU" sz="1800" b="0" dirty="0">
                <a:latin typeface="Aptos" panose="020B0004020202020204" pitchFamily="34" charset="0"/>
              </a:rPr>
              <a:t>Созданные ресурсы: </a:t>
            </a:r>
          </a:p>
          <a:p>
            <a:pPr>
              <a:buSzPts val="1100"/>
              <a:buFont typeface="Arial"/>
              <a:buNone/>
            </a:pPr>
            <a:r>
              <a:rPr lang="ru-RU" sz="1800" b="0" dirty="0">
                <a:latin typeface="Aptos" panose="020B0004020202020204" pitchFamily="34" charset="0"/>
              </a:rPr>
              <a:t>подсети, </a:t>
            </a:r>
            <a:r>
              <a:rPr lang="en-US" sz="1800" b="0" dirty="0">
                <a:latin typeface="Aptos" panose="020B0004020202020204" pitchFamily="34" charset="0"/>
              </a:rPr>
              <a:t>VPN-WG</a:t>
            </a:r>
            <a:r>
              <a:rPr lang="ru-RU" sz="1800" b="0" dirty="0">
                <a:latin typeface="Aptos" panose="020B0004020202020204" pitchFamily="34" charset="0"/>
              </a:rPr>
              <a:t> с публичным </a:t>
            </a:r>
            <a:r>
              <a:rPr lang="en-US" sz="1800" b="0" dirty="0">
                <a:latin typeface="Aptos" panose="020B0004020202020204" pitchFamily="34" charset="0"/>
              </a:rPr>
              <a:t>IP-</a:t>
            </a:r>
            <a:r>
              <a:rPr lang="ru-RU" sz="1800" b="0" dirty="0">
                <a:latin typeface="Aptos" panose="020B0004020202020204" pitchFamily="34" charset="0"/>
              </a:rPr>
              <a:t>адресом</a:t>
            </a:r>
            <a:r>
              <a:rPr lang="en-US" sz="1800" b="0" dirty="0">
                <a:latin typeface="Aptos" panose="020B0004020202020204" pitchFamily="34" charset="0"/>
              </a:rPr>
              <a:t>, </a:t>
            </a:r>
            <a:r>
              <a:rPr lang="ru-RU" sz="1800" b="0" dirty="0">
                <a:latin typeface="Aptos" panose="020B0004020202020204" pitchFamily="34" charset="0"/>
              </a:rPr>
              <a:t>3 ВМ </a:t>
            </a:r>
            <a:r>
              <a:rPr lang="en-US" sz="1800" b="0" dirty="0">
                <a:latin typeface="Aptos" panose="020B0004020202020204" pitchFamily="34" charset="0"/>
              </a:rPr>
              <a:t>ETCD, 2 </a:t>
            </a:r>
            <a:r>
              <a:rPr lang="ru-RU" sz="1800" b="0" dirty="0">
                <a:latin typeface="Aptos" panose="020B0004020202020204" pitchFamily="34" charset="0"/>
              </a:rPr>
              <a:t>ВМ </a:t>
            </a:r>
            <a:r>
              <a:rPr lang="en-US" sz="1800" b="0" dirty="0">
                <a:latin typeface="Aptos" panose="020B0004020202020204" pitchFamily="34" charset="0"/>
              </a:rPr>
              <a:t>Patroni</a:t>
            </a: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endParaRPr lang="ru-RU" sz="1800" b="0" dirty="0">
              <a:latin typeface="Aptos" panose="020B00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9FF962-F261-6708-8D9D-E35A4533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064" y="1869621"/>
            <a:ext cx="6591871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5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4024F31-15DC-6D26-29BE-B530041B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D5ACAB04-41FE-EB78-0CDD-5671031A0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	   </a:t>
            </a:r>
            <a:r>
              <a:rPr lang="en-US" sz="2800" dirty="0"/>
              <a:t>Ansible</a:t>
            </a:r>
            <a:r>
              <a:rPr lang="ru-RU" sz="2800" dirty="0"/>
              <a:t> </a:t>
            </a:r>
            <a:r>
              <a:rPr lang="en-US" sz="2800" dirty="0"/>
              <a:t>inventory</a:t>
            </a:r>
            <a:endParaRPr sz="2800" dirty="0"/>
          </a:p>
        </p:txBody>
      </p:sp>
      <p:sp>
        <p:nvSpPr>
          <p:cNvPr id="5" name="Google Shape;354;p51">
            <a:extLst>
              <a:ext uri="{FF2B5EF4-FFF2-40B4-BE49-F238E27FC236}">
                <a16:creationId xmlns:a16="http://schemas.microsoft.com/office/drawing/2014/main" id="{2BF2A3AC-12A9-C69F-9E97-8D36538B69BD}"/>
              </a:ext>
            </a:extLst>
          </p:cNvPr>
          <p:cNvSpPr txBox="1">
            <a:spLocks/>
          </p:cNvSpPr>
          <p:nvPr/>
        </p:nvSpPr>
        <p:spPr>
          <a:xfrm>
            <a:off x="1237079" y="1074295"/>
            <a:ext cx="7706100" cy="66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  <a:buFont typeface="Arial"/>
              <a:buNone/>
            </a:pPr>
            <a:r>
              <a:rPr lang="ru-RU" sz="1800" b="0" dirty="0">
                <a:latin typeface="Aptos" panose="020B0004020202020204" pitchFamily="34" charset="0"/>
              </a:rPr>
              <a:t>Созданные ресурсы: </a:t>
            </a:r>
          </a:p>
          <a:p>
            <a:pPr>
              <a:buSzPts val="1100"/>
              <a:buFont typeface="Arial"/>
              <a:buNone/>
            </a:pPr>
            <a:r>
              <a:rPr lang="ru-RU" sz="1800" b="0" dirty="0">
                <a:latin typeface="Aptos" panose="020B0004020202020204" pitchFamily="34" charset="0"/>
              </a:rPr>
              <a:t>подсети, </a:t>
            </a:r>
            <a:r>
              <a:rPr lang="en-US" sz="1800" b="0" dirty="0">
                <a:latin typeface="Aptos" panose="020B0004020202020204" pitchFamily="34" charset="0"/>
              </a:rPr>
              <a:t>VPN-WG</a:t>
            </a:r>
            <a:r>
              <a:rPr lang="ru-RU" sz="1800" b="0" dirty="0">
                <a:latin typeface="Aptos" panose="020B0004020202020204" pitchFamily="34" charset="0"/>
              </a:rPr>
              <a:t> с публичным </a:t>
            </a:r>
            <a:r>
              <a:rPr lang="en-US" sz="1800" b="0" dirty="0">
                <a:latin typeface="Aptos" panose="020B0004020202020204" pitchFamily="34" charset="0"/>
              </a:rPr>
              <a:t>IP-</a:t>
            </a:r>
            <a:r>
              <a:rPr lang="ru-RU" sz="1800" b="0" dirty="0">
                <a:latin typeface="Aptos" panose="020B0004020202020204" pitchFamily="34" charset="0"/>
              </a:rPr>
              <a:t>адресом</a:t>
            </a:r>
            <a:r>
              <a:rPr lang="en-US" sz="1800" b="0" dirty="0">
                <a:latin typeface="Aptos" panose="020B0004020202020204" pitchFamily="34" charset="0"/>
              </a:rPr>
              <a:t>, </a:t>
            </a:r>
            <a:r>
              <a:rPr lang="ru-RU" sz="1800" b="0" dirty="0">
                <a:latin typeface="Aptos" panose="020B0004020202020204" pitchFamily="34" charset="0"/>
              </a:rPr>
              <a:t>3 ВМ </a:t>
            </a:r>
            <a:r>
              <a:rPr lang="en-US" sz="1800" b="0" dirty="0">
                <a:latin typeface="Aptos" panose="020B0004020202020204" pitchFamily="34" charset="0"/>
              </a:rPr>
              <a:t>ETCD, 2 </a:t>
            </a:r>
            <a:r>
              <a:rPr lang="ru-RU" sz="1800" b="0" dirty="0">
                <a:latin typeface="Aptos" panose="020B0004020202020204" pitchFamily="34" charset="0"/>
              </a:rPr>
              <a:t>ВМ </a:t>
            </a:r>
            <a:r>
              <a:rPr lang="en-US" sz="1800" b="0" dirty="0">
                <a:latin typeface="Aptos" panose="020B0004020202020204" pitchFamily="34" charset="0"/>
              </a:rPr>
              <a:t>Patroni</a:t>
            </a: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endParaRPr lang="ru-RU" sz="1800" b="0" dirty="0">
              <a:latin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7D6D7C-722D-E453-0453-BA99A72BA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478" y="1939452"/>
            <a:ext cx="6256562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43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9653B4E-5354-1CB9-B74E-7BFE8A8C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A07E7A40-1730-DED8-0E41-6124519A6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      Пример использования </a:t>
            </a:r>
            <a:r>
              <a:rPr lang="en-US" sz="3000" dirty="0"/>
              <a:t>Makefile</a:t>
            </a:r>
            <a:br>
              <a:rPr lang="en-US" sz="3000" dirty="0"/>
            </a:br>
            <a:r>
              <a:rPr lang="en-US" sz="3000" dirty="0"/>
              <a:t>	</a:t>
            </a:r>
            <a:r>
              <a:rPr lang="ru-RU" sz="3000" dirty="0"/>
              <a:t>для разворачивания </a:t>
            </a:r>
            <a:r>
              <a:rPr lang="en-US" sz="3000" dirty="0"/>
              <a:t>VPN-WG</a:t>
            </a:r>
            <a:endParaRPr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77CC56-0C4F-233B-3A2F-BB1E7406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09" y="1416997"/>
            <a:ext cx="5791464" cy="354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1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9E1577BE-2DDA-3E04-CC12-8DF841D2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5A4DE1C7-96E6-E464-BAAF-3EFBFCA084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      Создание </a:t>
            </a:r>
            <a:r>
              <a:rPr lang="en-US" sz="3000" dirty="0"/>
              <a:t>Patroni </a:t>
            </a:r>
            <a:r>
              <a:rPr lang="ru-RU" sz="3000" dirty="0"/>
              <a:t>в ЯО «под ключ»</a:t>
            </a:r>
            <a:endParaRPr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0DDA3D-9474-5869-3641-738F69CFB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072" y="1108144"/>
            <a:ext cx="4680488" cy="292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17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70D6ED17-0FA7-EBC9-C004-1830B62D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68">
            <a:extLst>
              <a:ext uri="{FF2B5EF4-FFF2-40B4-BE49-F238E27FC236}">
                <a16:creationId xmlns:a16="http://schemas.microsoft.com/office/drawing/2014/main" id="{F22C71F9-E44F-2F0B-7D8F-C2179C2634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924" y="1418095"/>
            <a:ext cx="1643210" cy="1030637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1" name="Google Shape;521;p68">
            <a:extLst>
              <a:ext uri="{FF2B5EF4-FFF2-40B4-BE49-F238E27FC236}">
                <a16:creationId xmlns:a16="http://schemas.microsoft.com/office/drawing/2014/main" id="{F43670C7-A817-18E9-ACF8-D9DFABE0B21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24" y="1418095"/>
            <a:ext cx="1643210" cy="1030637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>
            <a:extLst>
              <a:ext uri="{FF2B5EF4-FFF2-40B4-BE49-F238E27FC236}">
                <a16:creationId xmlns:a16="http://schemas.microsoft.com/office/drawing/2014/main" id="{B2FD62F0-4361-C613-4DDD-D10C5F7961B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6012" y="1418095"/>
            <a:ext cx="1643210" cy="1030637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>
            <a:extLst>
              <a:ext uri="{FF2B5EF4-FFF2-40B4-BE49-F238E27FC236}">
                <a16:creationId xmlns:a16="http://schemas.microsoft.com/office/drawing/2014/main" id="{FC37F0CD-3416-8544-0FB1-43BED92DF3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6938" y="1418095"/>
            <a:ext cx="1643210" cy="1030637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>
            <a:extLst>
              <a:ext uri="{FF2B5EF4-FFF2-40B4-BE49-F238E27FC236}">
                <a16:creationId xmlns:a16="http://schemas.microsoft.com/office/drawing/2014/main" id="{E809E05B-85E8-B0C2-427A-A712F169D0F9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0" y="1418096"/>
            <a:ext cx="1643210" cy="1030636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>
            <a:extLst>
              <a:ext uri="{FF2B5EF4-FFF2-40B4-BE49-F238E27FC236}">
                <a16:creationId xmlns:a16="http://schemas.microsoft.com/office/drawing/2014/main" id="{01F56B84-A526-E433-2139-0CB0AAE46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Настройка связности между </a:t>
            </a:r>
            <a:r>
              <a:rPr lang="en-US" sz="2400" dirty="0"/>
              <a:t>on-prem </a:t>
            </a:r>
            <a:r>
              <a:rPr lang="ru-RU" sz="2400" dirty="0"/>
              <a:t>и облаком</a:t>
            </a:r>
            <a:endParaRPr sz="2400" dirty="0"/>
          </a:p>
        </p:txBody>
      </p:sp>
      <p:sp>
        <p:nvSpPr>
          <p:cNvPr id="527" name="Google Shape;527;p68">
            <a:extLst>
              <a:ext uri="{FF2B5EF4-FFF2-40B4-BE49-F238E27FC236}">
                <a16:creationId xmlns:a16="http://schemas.microsoft.com/office/drawing/2014/main" id="{148C6250-7067-28D0-4077-334A856B6D19}"/>
              </a:ext>
            </a:extLst>
          </p:cNvPr>
          <p:cNvSpPr txBox="1"/>
          <p:nvPr/>
        </p:nvSpPr>
        <p:spPr>
          <a:xfrm>
            <a:off x="774916" y="1658065"/>
            <a:ext cx="1193369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ВМ с </a:t>
            </a: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WireGuard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>
            <a:extLst>
              <a:ext uri="{FF2B5EF4-FFF2-40B4-BE49-F238E27FC236}">
                <a16:creationId xmlns:a16="http://schemas.microsoft.com/office/drawing/2014/main" id="{276A8DBA-6318-FF7E-1DF4-647C9CE6ABD3}"/>
              </a:ext>
            </a:extLst>
          </p:cNvPr>
          <p:cNvSpPr txBox="1"/>
          <p:nvPr/>
        </p:nvSpPr>
        <p:spPr>
          <a:xfrm>
            <a:off x="2490409" y="1658065"/>
            <a:ext cx="10629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ЯО </a:t>
            </a: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route table</a:t>
            </a: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>
            <a:extLst>
              <a:ext uri="{FF2B5EF4-FFF2-40B4-BE49-F238E27FC236}">
                <a16:creationId xmlns:a16="http://schemas.microsoft.com/office/drawing/2014/main" id="{96653925-C8D6-CA14-13CF-ADD255460777}"/>
              </a:ext>
            </a:extLst>
          </p:cNvPr>
          <p:cNvSpPr txBox="1"/>
          <p:nvPr/>
        </p:nvSpPr>
        <p:spPr>
          <a:xfrm>
            <a:off x="4219825" y="1518583"/>
            <a:ext cx="1100676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ЯО </a:t>
            </a: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Security Groups</a:t>
            </a:r>
          </a:p>
        </p:txBody>
      </p:sp>
      <p:sp>
        <p:nvSpPr>
          <p:cNvPr id="531" name="Google Shape;531;p68">
            <a:extLst>
              <a:ext uri="{FF2B5EF4-FFF2-40B4-BE49-F238E27FC236}">
                <a16:creationId xmlns:a16="http://schemas.microsoft.com/office/drawing/2014/main" id="{B53BC464-29EE-00BD-838D-A46F5F789824}"/>
              </a:ext>
            </a:extLst>
          </p:cNvPr>
          <p:cNvSpPr txBox="1"/>
          <p:nvPr/>
        </p:nvSpPr>
        <p:spPr>
          <a:xfrm>
            <a:off x="7419045" y="1518583"/>
            <a:ext cx="1193368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Клиент </a:t>
            </a: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WireGuard </a:t>
            </a:r>
            <a:r>
              <a:rPr lang="ru-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на ПК</a:t>
            </a: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>
            <a:extLst>
              <a:ext uri="{FF2B5EF4-FFF2-40B4-BE49-F238E27FC236}">
                <a16:creationId xmlns:a16="http://schemas.microsoft.com/office/drawing/2014/main" id="{E9851D09-4BBB-009D-8D68-96E92B5BB6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656001"/>
              </p:ext>
            </p:extLst>
          </p:nvPr>
        </p:nvGraphicFramePr>
        <p:xfrm>
          <a:off x="547292" y="2733762"/>
          <a:ext cx="8275500" cy="1388779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165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Создание входного шлюза для </a:t>
                      </a:r>
                      <a:r>
                        <a:rPr lang="en-US" dirty="0"/>
                        <a:t>Patroni-sb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Прописывание статического маршрута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Добавление необходимых правил в </a:t>
                      </a:r>
                      <a:r>
                        <a:rPr lang="en-US" dirty="0"/>
                        <a:t>SG</a:t>
                      </a:r>
                      <a:endParaRPr lang="ru-RU"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Без настройки обратного маршрута на </a:t>
                      </a:r>
                      <a:r>
                        <a:rPr lang="en-US" dirty="0"/>
                        <a:t>on-prem</a:t>
                      </a:r>
                      <a:r>
                        <a:rPr lang="ru-RU" dirty="0"/>
                        <a:t> –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ничего не работало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400" dirty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Можно и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r>
                        <a:rPr lang="ru-RU" sz="1400" dirty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пользовать другой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+mj-lt"/>
                          <a:ea typeface="Roboto"/>
                          <a:cs typeface="Roboto"/>
                          <a:sym typeface="Roboto"/>
                        </a:rPr>
                        <a:t>VPN</a:t>
                      </a:r>
                      <a:endParaRPr sz="1400" dirty="0">
                        <a:solidFill>
                          <a:schemeClr val="dk1"/>
                        </a:solidFill>
                        <a:latin typeface="+mj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Google Shape;531;p68">
            <a:extLst>
              <a:ext uri="{FF2B5EF4-FFF2-40B4-BE49-F238E27FC236}">
                <a16:creationId xmlns:a16="http://schemas.microsoft.com/office/drawing/2014/main" id="{C8B5115B-5326-7D9A-1F44-3E7DFDC50C2A}"/>
              </a:ext>
            </a:extLst>
          </p:cNvPr>
          <p:cNvSpPr txBox="1"/>
          <p:nvPr/>
        </p:nvSpPr>
        <p:spPr>
          <a:xfrm>
            <a:off x="5727151" y="1593493"/>
            <a:ext cx="1193368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Маршрут на </a:t>
            </a:r>
            <a:r>
              <a:rPr lang="en-US" sz="15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on-prem</a:t>
            </a:r>
            <a:endParaRPr sz="1500"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61421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2758C32-5267-272D-F62E-E0268508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1B61956C-E5C9-54CD-BFF7-D35B851AF6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	         </a:t>
            </a:r>
            <a:r>
              <a:rPr lang="ru-RU" sz="2800" dirty="0"/>
              <a:t>Облачный</a:t>
            </a:r>
            <a:r>
              <a:rPr lang="en-US" sz="2800" dirty="0"/>
              <a:t> </a:t>
            </a:r>
            <a:r>
              <a:rPr lang="ru-RU" sz="2800" dirty="0"/>
              <a:t>кластер </a:t>
            </a:r>
            <a:r>
              <a:rPr lang="en-US" sz="2800" dirty="0"/>
              <a:t>Patroni</a:t>
            </a:r>
            <a:endParaRPr sz="2800" dirty="0"/>
          </a:p>
        </p:txBody>
      </p:sp>
      <p:sp>
        <p:nvSpPr>
          <p:cNvPr id="5" name="Google Shape;354;p51">
            <a:extLst>
              <a:ext uri="{FF2B5EF4-FFF2-40B4-BE49-F238E27FC236}">
                <a16:creationId xmlns:a16="http://schemas.microsoft.com/office/drawing/2014/main" id="{1ED94805-E354-B5EB-0E4C-3E515EEF15AB}"/>
              </a:ext>
            </a:extLst>
          </p:cNvPr>
          <p:cNvSpPr txBox="1">
            <a:spLocks/>
          </p:cNvSpPr>
          <p:nvPr/>
        </p:nvSpPr>
        <p:spPr>
          <a:xfrm>
            <a:off x="1315050" y="2631665"/>
            <a:ext cx="7706100" cy="15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n-US" sz="1800" b="0" dirty="0">
                <a:latin typeface="Aptos" panose="020B0004020202020204" pitchFamily="34" charset="0"/>
              </a:rPr>
              <a:t>dr-pg1</a:t>
            </a:r>
            <a:r>
              <a:rPr lang="ru-RU" sz="1800" b="0" dirty="0">
                <a:latin typeface="Aptos" panose="020B0004020202020204" pitchFamily="34" charset="0"/>
              </a:rPr>
              <a:t> </a:t>
            </a:r>
            <a:r>
              <a:rPr lang="en-US" sz="1800" b="0" dirty="0">
                <a:latin typeface="Aptos" panose="020B0004020202020204" pitchFamily="34" charset="0"/>
              </a:rPr>
              <a:t>– </a:t>
            </a:r>
            <a:r>
              <a:rPr lang="ru-RU" sz="1800" b="0" dirty="0">
                <a:latin typeface="Aptos" panose="020B0004020202020204" pitchFamily="34" charset="0"/>
              </a:rPr>
              <a:t>стендбай-лидер</a:t>
            </a:r>
          </a:p>
          <a:p>
            <a:pPr>
              <a:buSzPts val="1100"/>
              <a:buFont typeface="Arial"/>
              <a:buNone/>
            </a:pPr>
            <a:endParaRPr lang="ru-RU" sz="1800" b="0" dirty="0">
              <a:latin typeface="Aptos" panose="020B0004020202020204" pitchFamily="34" charset="0"/>
            </a:endParaRPr>
          </a:p>
          <a:p>
            <a:pPr>
              <a:buSzPts val="1100"/>
            </a:pPr>
            <a:r>
              <a:rPr lang="en-US" sz="1800" b="0" dirty="0">
                <a:latin typeface="Aptos" panose="020B0004020202020204" pitchFamily="34" charset="0"/>
              </a:rPr>
              <a:t>dr-</a:t>
            </a:r>
            <a:r>
              <a:rPr lang="en-US" sz="1800" b="0" dirty="0" err="1">
                <a:latin typeface="Aptos" panose="020B0004020202020204" pitchFamily="34" charset="0"/>
              </a:rPr>
              <a:t>pg</a:t>
            </a:r>
            <a:r>
              <a:rPr lang="ru-RU" sz="1800" b="0" dirty="0">
                <a:latin typeface="Aptos" panose="020B0004020202020204" pitchFamily="34" charset="0"/>
              </a:rPr>
              <a:t>2</a:t>
            </a:r>
            <a:r>
              <a:rPr lang="en-US" sz="1800" b="0" dirty="0">
                <a:latin typeface="Aptos" panose="020B0004020202020204" pitchFamily="34" charset="0"/>
              </a:rPr>
              <a:t> –</a:t>
            </a:r>
            <a:r>
              <a:rPr lang="ru-RU" sz="1800" b="0" dirty="0">
                <a:latin typeface="Aptos" panose="020B0004020202020204" pitchFamily="34" charset="0"/>
              </a:rPr>
              <a:t> реплика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55AE78-A3B2-43E2-9558-F9887F20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62" y="1270859"/>
            <a:ext cx="7814262" cy="124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98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41DD593-AA9A-FDEB-BD4E-A3C9FB31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43C9345B-1810-0274-15F5-F5999346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/>
              <a:t>Состояние </a:t>
            </a:r>
            <a:r>
              <a:rPr lang="en-US" sz="2800" dirty="0"/>
              <a:t>Standby-</a:t>
            </a:r>
            <a:r>
              <a:rPr lang="ru-RU" sz="2800" dirty="0"/>
              <a:t>лидера</a:t>
            </a:r>
            <a:r>
              <a:rPr lang="en-US" sz="2800" dirty="0"/>
              <a:t> </a:t>
            </a:r>
            <a:r>
              <a:rPr lang="ru-RU" sz="2800" dirty="0"/>
              <a:t>и </a:t>
            </a:r>
            <a:r>
              <a:rPr lang="en-US" sz="2800" dirty="0"/>
              <a:t>Standby-</a:t>
            </a:r>
            <a:r>
              <a:rPr lang="ru-RU" sz="2800" dirty="0"/>
              <a:t>реплики</a:t>
            </a:r>
            <a:endParaRPr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D1D506-3008-9D08-1ABB-EB5DC0B50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2" y="1191146"/>
            <a:ext cx="5276476" cy="16888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B74C28-F293-F16F-FF1D-B83B5C878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66" y="3153905"/>
            <a:ext cx="5276476" cy="1622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2B8D31-BB3F-C65E-008E-156B886E3D81}"/>
              </a:ext>
            </a:extLst>
          </p:cNvPr>
          <p:cNvSpPr txBox="1"/>
          <p:nvPr/>
        </p:nvSpPr>
        <p:spPr>
          <a:xfrm>
            <a:off x="554793" y="2879955"/>
            <a:ext cx="205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dr-pg2</a:t>
            </a:r>
            <a:r>
              <a:rPr lang="ru-RU" dirty="0"/>
              <a:t> (</a:t>
            </a:r>
            <a:r>
              <a:rPr lang="en-US" dirty="0"/>
              <a:t>ip </a:t>
            </a:r>
            <a:r>
              <a:rPr lang="ru-RU" dirty="0"/>
              <a:t>10.50.</a:t>
            </a:r>
            <a:r>
              <a:rPr lang="en-US" dirty="0"/>
              <a:t>2</a:t>
            </a:r>
            <a:r>
              <a:rPr lang="ru-RU" dirty="0"/>
              <a:t>0.21)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28AB0-0240-1DEA-B5A6-7AAA08FD1470}"/>
              </a:ext>
            </a:extLst>
          </p:cNvPr>
          <p:cNvSpPr txBox="1"/>
          <p:nvPr/>
        </p:nvSpPr>
        <p:spPr>
          <a:xfrm>
            <a:off x="554793" y="906616"/>
            <a:ext cx="205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dr-pg1</a:t>
            </a:r>
            <a:r>
              <a:rPr lang="ru-RU" dirty="0"/>
              <a:t> (</a:t>
            </a:r>
            <a:r>
              <a:rPr lang="en-US" dirty="0"/>
              <a:t>ip </a:t>
            </a:r>
            <a:r>
              <a:rPr lang="ru-RU" dirty="0"/>
              <a:t>10.50.10.21):</a:t>
            </a:r>
          </a:p>
        </p:txBody>
      </p:sp>
    </p:spTree>
    <p:extLst>
      <p:ext uri="{BB962C8B-B14F-4D97-AF65-F5344CB8AC3E}">
        <p14:creationId xmlns:p14="http://schemas.microsoft.com/office/powerpoint/2010/main" val="3453322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5725600-32B3-F9A7-0B47-2D538DB1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C4CA9921-2323-7994-1C96-8E526ACC0C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520600" cy="940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/>
              <a:t>Состояние </a:t>
            </a:r>
            <a:r>
              <a:rPr lang="en-US" sz="2800" dirty="0"/>
              <a:t>Standby-</a:t>
            </a:r>
            <a:r>
              <a:rPr lang="ru-RU" sz="2800" dirty="0"/>
              <a:t>лидера</a:t>
            </a:r>
            <a:r>
              <a:rPr lang="en-US" sz="2800" dirty="0"/>
              <a:t> </a:t>
            </a:r>
            <a:r>
              <a:rPr lang="ru-RU" sz="2800" dirty="0"/>
              <a:t>и </a:t>
            </a:r>
            <a:r>
              <a:rPr lang="en-US" sz="2800" dirty="0"/>
              <a:t>Standby-</a:t>
            </a:r>
            <a:r>
              <a:rPr lang="ru-RU" sz="2800" dirty="0"/>
              <a:t>реплики</a:t>
            </a:r>
            <a:endParaRPr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32E86-5041-3E42-E818-44E07091AE2B}"/>
              </a:ext>
            </a:extLst>
          </p:cNvPr>
          <p:cNvSpPr txBox="1"/>
          <p:nvPr/>
        </p:nvSpPr>
        <p:spPr>
          <a:xfrm>
            <a:off x="554793" y="906616"/>
            <a:ext cx="205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dr-pg1</a:t>
            </a:r>
            <a:r>
              <a:rPr lang="ru-RU" dirty="0"/>
              <a:t> (</a:t>
            </a:r>
            <a:r>
              <a:rPr lang="en-US" dirty="0"/>
              <a:t>ip </a:t>
            </a:r>
            <a:r>
              <a:rPr lang="ru-RU" dirty="0"/>
              <a:t>10.50.10.21):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C91483-D453-0605-52EB-F4BE505F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75" y="1270860"/>
            <a:ext cx="4724400" cy="914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F002E6-29F2-D625-2A0C-9FF8DB273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75" y="2617276"/>
            <a:ext cx="4400550" cy="1457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373667-0157-C6E3-77BE-FA53B4E9F8B4}"/>
              </a:ext>
            </a:extLst>
          </p:cNvPr>
          <p:cNvSpPr txBox="1"/>
          <p:nvPr/>
        </p:nvSpPr>
        <p:spPr>
          <a:xfrm>
            <a:off x="554792" y="2309499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only</a:t>
            </a:r>
            <a:r>
              <a:rPr lang="ru-RU" dirty="0"/>
              <a:t> и </a:t>
            </a:r>
            <a:r>
              <a:rPr lang="en-US" dirty="0"/>
              <a:t>LSN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066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D81FB22-1A9A-E85E-DF2E-825545F0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921B1988-9387-5753-3EA3-8E5EB31AA7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Проблемы</a:t>
            </a:r>
            <a:endParaRPr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56A117-A135-5542-72C7-19E8F328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39" y="1119113"/>
            <a:ext cx="5676576" cy="346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7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692268214"/>
              </p:ext>
            </p:extLst>
          </p:nvPr>
        </p:nvGraphicFramePr>
        <p:xfrm>
          <a:off x="500551" y="1625410"/>
          <a:ext cx="8348982" cy="3281941"/>
        </p:xfrm>
        <a:graphic>
          <a:graphicData uri="http://schemas.openxmlformats.org/drawingml/2006/table">
            <a:tbl>
              <a:tblPr>
                <a:noFill/>
                <a:tableStyleId>{55B8110C-A81A-45A0-B9F9-71EB1C899C39}</a:tableStyleId>
              </a:tblPr>
              <a:tblGrid>
                <a:gridCol w="564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Большинство целей достигнуто. Получилось познакомиться с ОС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Astra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Воронеж, её особенностями, удалось создать связку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on-prem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 –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ЯО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Patroni,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немного погонять её</a:t>
                      </a:r>
                      <a:endParaRPr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Трудности возникли с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Terraform –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нужно усугублять знакомство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Wingdings" panose="05000000000000000000" pitchFamily="2" charset="2"/>
                        </a:rPr>
                        <a:t>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Wingdings" panose="05000000000000000000" pitchFamily="2" charset="2"/>
                        </a:rPr>
                        <a:t>Также непросто оказалось «достучаться» до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Wingdings" panose="05000000000000000000" pitchFamily="2" charset="2"/>
                        </a:rPr>
                        <a:t>on-prem Patroni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Wingdings" panose="05000000000000000000" pitchFamily="2" charset="2"/>
                        </a:rPr>
                        <a:t>из облака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занял часов 50. Полезность – 8 из 10.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Если начать проект с начала, вероятно, я бы разворачивал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primary-Patroni 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ЯО и </a:t>
                      </a:r>
                      <a:r>
                        <a:rPr lang="en-US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standby-Patroni</a:t>
                      </a:r>
                      <a:r>
                        <a:rPr lang="ru-RU" sz="14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там же. Но это не точно </a:t>
                      </a:r>
                      <a:r>
                        <a:rPr lang="ru-RU" sz="20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Wingdings" panose="05000000000000000000" pitchFamily="2" charset="2"/>
                        </a:rPr>
                        <a:t></a:t>
                      </a:r>
                      <a:endParaRPr sz="20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621</Words>
  <Application>Microsoft Office PowerPoint</Application>
  <PresentationFormat>Экран (16:9)</PresentationFormat>
  <Paragraphs>115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Roboto Medium</vt:lpstr>
      <vt:lpstr>Roboto</vt:lpstr>
      <vt:lpstr>Courier New</vt:lpstr>
      <vt:lpstr>Aptos</vt:lpstr>
      <vt:lpstr>Arial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 Тема: Создание кластера Patroni на локальных виртуальных машинах с ОС Astra Linux и стендбай-кластера Patroni в облаке с собственным HAProxyна ОС Astra локального кластера Patroni на ETCD с pgbouncer, HAProxy и keepalived, и облачного стендбай-кластера с собственным HAProxy    </vt:lpstr>
      <vt:lpstr>План защиты</vt:lpstr>
      <vt:lpstr>Презентация PowerPoint</vt:lpstr>
      <vt:lpstr>Какие технологии использовались </vt:lpstr>
      <vt:lpstr>              Схема проекта</vt:lpstr>
      <vt:lpstr>           ОС Astra Linux «Воронеж»</vt:lpstr>
      <vt:lpstr>              On-prem кластер Patroni</vt:lpstr>
      <vt:lpstr>Switchover на локальном кластере Patroni</vt:lpstr>
      <vt:lpstr>    Terraform – инфраструктура IaC</vt:lpstr>
      <vt:lpstr>    Ansible inventory</vt:lpstr>
      <vt:lpstr>      Пример использования Makefile  для разворачивания VPN-WG</vt:lpstr>
      <vt:lpstr>      Создание Patroni в ЯО «под ключ»</vt:lpstr>
      <vt:lpstr>Настройка связности между on-prem и облаком</vt:lpstr>
      <vt:lpstr>          Облачный кластер Patroni</vt:lpstr>
      <vt:lpstr>Состояние Standby-лидера и Standby-реплики</vt:lpstr>
      <vt:lpstr>Состояние Standby-лидера и Standby-реплики</vt:lpstr>
      <vt:lpstr>Проблемы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</dc:creator>
  <cp:lastModifiedBy>Adm</cp:lastModifiedBy>
  <cp:revision>4</cp:revision>
  <dcterms:modified xsi:type="dcterms:W3CDTF">2026-03-11T13:17:35Z</dcterms:modified>
</cp:coreProperties>
</file>